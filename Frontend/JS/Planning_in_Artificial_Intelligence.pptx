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</a:t>
            </a:r>
          </a:p>
          <a:p>
            <a:r>
              <a:t>Planning is one of the important areas of Artificial Intelligence.</a:t>
            </a:r>
          </a:p>
          <a:p>
            <a:r>
              <a:t>It is about deciding what actions an intelligent system should take</a:t>
            </a:r>
          </a:p>
          <a:p>
            <a:r>
              <a:t>to achieve a goal.</a:t>
            </a:r>
          </a:p>
          <a:p/>
          <a:p>
            <a:r>
              <a:t>A simple example is travelling from home to college.</a:t>
            </a:r>
          </a:p>
          <a:p>
            <a:r>
              <a:t>We know where we are, where we want to go, and the actions available.</a:t>
            </a:r>
          </a:p>
          <a:p>
            <a:r>
              <a:t>AI planning formalizes this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Explain:</a:t>
            </a:r>
          </a:p>
          <a:p>
            <a:r>
              <a:t>Planning answers the question: What should the AI do to reach its goal?</a:t>
            </a:r>
          </a:p>
          <a:p/>
          <a:p>
            <a:r>
              <a:t>There are four important ideas:</a:t>
            </a:r>
          </a:p>
          <a:p>
            <a:r>
              <a:t>initial state, actions, resulting states, and the goal.</a:t>
            </a:r>
          </a:p>
          <a:p/>
          <a:p>
            <a:r>
              <a:t>Use the example of going from home to college.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each component with one example.</a:t>
            </a:r>
          </a:p>
          <a:p/>
          <a:p>
            <a:r>
              <a:t>For example, for taking a bus:</a:t>
            </a:r>
          </a:p>
          <a:p>
            <a:r>
              <a:t>Precondition: you are at the bus stop.</a:t>
            </a:r>
          </a:p>
          <a:p>
            <a:r>
              <a:t>Action: take the bus.</a:t>
            </a:r>
          </a:p>
          <a:p>
            <a:r>
              <a:t>Effect: you arrive at the destination.</a:t>
            </a:r>
          </a:p>
          <a:p/>
          <a:p>
            <a:r>
              <a:t>This shows that AI cannot perform actions randomly. It must consider</a:t>
            </a:r>
          </a:p>
          <a:p>
            <a:r>
              <a:t>conditions and consequences.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State-space planning represents the world using states.</a:t>
            </a:r>
          </a:p>
          <a:p>
            <a:r>
              <a:t>The planner searches through possible states.</a:t>
            </a:r>
          </a:p>
          <a:p/>
          <a:p>
            <a:r>
              <a:t>For example, from home there may be several choices:</a:t>
            </a:r>
          </a:p>
          <a:p>
            <a:r>
              <a:t>bus stop, shop, park, etc.</a:t>
            </a:r>
          </a:p>
          <a:p/>
          <a:p>
            <a:r>
              <a:t>The planner searches these possibilities until it finds a path</a:t>
            </a:r>
          </a:p>
          <a:p>
            <a:r>
              <a:t>that reaches the desired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Partial-order planning is different from a rigid sequence.</a:t>
            </a:r>
          </a:p>
          <a:p/>
          <a:p>
            <a:r>
              <a:t>The planner specifies only the ordering constraints that matter.</a:t>
            </a:r>
          </a:p>
          <a:p>
            <a:r>
              <a:t>For example, hot water must be ready before adding it, but some</a:t>
            </a:r>
          </a:p>
          <a:p>
            <a:r>
              <a:t>other preparation steps can happen independently.</a:t>
            </a:r>
          </a:p>
          <a:p/>
          <a:p>
            <a:r>
              <a:t>The main benefit is flexibility.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planning graph is a layered structure.</a:t>
            </a:r>
          </a:p>
          <a:p>
            <a:r>
              <a:t>It alternates between states and actions.</a:t>
            </a:r>
          </a:p>
          <a:p/>
          <a:p>
            <a:r>
              <a:t>The planner can use this representation to reason about which</a:t>
            </a:r>
          </a:p>
          <a:p>
            <a:r>
              <a:t>actions are possible and which combinations can lead to the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Propositional logic represents facts as statements that can be</a:t>
            </a:r>
          </a:p>
          <a:p>
            <a:r>
              <a:t>true or false.</a:t>
            </a:r>
          </a:p>
          <a:p/>
          <a:p>
            <a:r>
              <a:t>The planner can use rules to decide whether an action is applicable.</a:t>
            </a:r>
          </a:p>
          <a:p/>
          <a:p>
            <a:r>
              <a:t>For example, if the agent is at home and has a car, then it can</a:t>
            </a:r>
          </a:p>
          <a:p>
            <a:r>
              <a:t>drive to college.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compares the major planning approaches.</a:t>
            </a:r>
          </a:p>
          <a:p/>
          <a:p>
            <a:r>
              <a:t>There is no single best method for every problem.</a:t>
            </a:r>
          </a:p>
          <a:p>
            <a:r>
              <a:t>State-space search is straightforward but may explore many states.</a:t>
            </a:r>
          </a:p>
          <a:p>
            <a:r>
              <a:t>Partial-order planning adds flexibility.</a:t>
            </a:r>
          </a:p>
          <a:p>
            <a:r>
              <a:t>Planning graphs organize the search.</a:t>
            </a:r>
          </a:p>
          <a:p>
            <a:r>
              <a:t>Logic gives strong reasoning capabilities.</a:t>
            </a:r>
          </a:p>
          <a:p>
            <a:r>
              <a:t>Hierarchical planning is useful for complex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Hierarchical planning is useful when a problem is too complex to</a:t>
            </a:r>
          </a:p>
          <a:p>
            <a:r>
              <a:t>solve as one giant sequence.</a:t>
            </a:r>
          </a:p>
          <a:p/>
          <a:p>
            <a:r>
              <a:t>The planner first creates a high-level plan and then decomposes it</a:t>
            </a:r>
          </a:p>
          <a:p>
            <a:r>
              <a:t>into smaller subtasks.</a:t>
            </a:r>
          </a:p>
          <a:p/>
          <a:p>
            <a:r>
              <a:t>For example, delivering a package can be divided into picking it up,</a:t>
            </a:r>
          </a:p>
          <a:p>
            <a:r>
              <a:t>planning a route, travelling, and delivering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environments are uncertain.</a:t>
            </a:r>
          </a:p>
          <a:p/>
          <a:p>
            <a:r>
              <a:t>Conditional planning creates different actions depending on conditions.</a:t>
            </a:r>
          </a:p>
          <a:p>
            <a:r>
              <a:t>For example, if it rains, take an umbrella; otherwise don't.</a:t>
            </a:r>
          </a:p>
          <a:p/>
          <a:p>
            <a:r>
              <a:t>Contingency planning goes further by preparing alternative plans</a:t>
            </a:r>
          </a:p>
          <a:p>
            <a:r>
              <a:t>for unexpected failures, such as a bus being unavailable.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Multi-agent planning deals with situations where several agents</a:t>
            </a:r>
          </a:p>
          <a:p>
            <a:r>
              <a:t>must coordinate.</a:t>
            </a:r>
          </a:p>
          <a:p/>
          <a:p>
            <a:r>
              <a:t>A warehouse is a good example. Multiple robots may pick up and</a:t>
            </a:r>
          </a:p>
          <a:p>
            <a:r>
              <a:t>deliver packages at the same time.</a:t>
            </a:r>
          </a:p>
          <a:p/>
          <a:p>
            <a:r>
              <a:t>The challenge is to divide tasks, communicate, and avoid conflicts.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Planning is not just a textbook idea.</a:t>
            </a:r>
          </a:p>
          <a:p/>
          <a:p>
            <a:r>
              <a:t>It appears in robotics, autonomous vehicles, logistics, games,</a:t>
            </a:r>
          </a:p>
          <a:p>
            <a:r>
              <a:t>space missions, and manufacturing.</a:t>
            </a:r>
          </a:p>
          <a:p/>
          <a:p>
            <a:r>
              <a:t>The common pattern is always similar:</a:t>
            </a:r>
          </a:p>
          <a:p>
            <a:r>
              <a:t>there is a goal, possible actions, constraints, and a need to</a:t>
            </a:r>
          </a:p>
          <a:p>
            <a:r>
              <a:t>select a useful sequence of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Conclusion:</a:t>
            </a:r>
          </a:p>
          <a:p>
            <a:r>
              <a:t>AI planning starts with a goal and determines actions to reach it.</a:t>
            </a:r>
          </a:p>
          <a:p/>
          <a:p>
            <a:r>
              <a:t>We studied state-space planning, partial-order planning,</a:t>
            </a:r>
          </a:p>
          <a:p>
            <a:r>
              <a:t>planning graphs, propositional logic, hierarchical planning,</a:t>
            </a:r>
          </a:p>
          <a:p>
            <a:r>
              <a:t>conditional and contingency planning, and multi-agent planning.</a:t>
            </a:r>
          </a:p>
          <a:p/>
          <a:p>
            <a:r>
              <a:t>A useful modern connection is AI agents. Modern agents can plan,</a:t>
            </a:r>
          </a:p>
          <a:p>
            <a:r>
              <a:t>use tools, act, observe results, and revise their plans.</a:t>
            </a:r>
          </a:p>
          <a:p/>
          <a:p>
            <a:r>
              <a:t>Final line:</a:t>
            </a:r>
          </a:p>
          <a:p>
            <a:r>
              <a:t>Planning gives AI the ability not just to know what it wants,</a:t>
            </a:r>
          </a:p>
          <a:p>
            <a:r>
              <a:t>but to decide how to achieve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640080"/>
            <a:ext cx="1280160" cy="1280160"/>
          </a:xfrm>
          <a:prstGeom prst="ellipse">
            <a:avLst/>
          </a:prstGeom>
          <a:solidFill>
            <a:srgbClr val="91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1554480"/>
            <a:ext cx="640080" cy="640080"/>
          </a:xfrm>
          <a:prstGeom prst="ellipse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5303520"/>
            <a:ext cx="914400" cy="914400"/>
          </a:xfrm>
          <a:prstGeom prst="ellipse">
            <a:avLst/>
          </a:prstGeom>
          <a:solidFill>
            <a:srgbClr val="3D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7772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200" b="1">
                <a:solidFill>
                  <a:srgbClr val="34D3DC"/>
                </a:solidFill>
                <a:latin typeface="Aptos"/>
              </a:rPr>
              <a:t>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5F8FF"/>
                </a:solidFill>
                <a:latin typeface="Aptos"/>
              </a:rPr>
              <a:t>IN ARTIFICIAL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971800"/>
            <a:ext cx="7772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AAB9D2"/>
                </a:solidFill>
                <a:latin typeface="Aptos"/>
              </a:rPr>
              <a:t>From goals to intelligent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51960"/>
            <a:ext cx="1920240" cy="731520"/>
          </a:xfrm>
          <a:prstGeom prst="roundRect">
            <a:avLst/>
          </a:prstGeom>
          <a:solidFill>
            <a:srgbClr val="3D91FF"/>
          </a:solidFill>
          <a:ln>
            <a:solidFill>
              <a:srgbClr val="3D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1920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5F8FF"/>
                </a:solidFill>
                <a:latin typeface="Aptos"/>
              </a:rPr>
              <a:t>GOAL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34640" y="4617720"/>
            <a:ext cx="868680" cy="0"/>
          </a:xfrm>
          <a:prstGeom prst="line">
            <a:avLst/>
          </a:prstGeom>
          <a:ln w="3175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49039" y="4251960"/>
            <a:ext cx="1920240" cy="731520"/>
          </a:xfrm>
          <a:prstGeom prst="roundRect">
            <a:avLst/>
          </a:prstGeom>
          <a:solidFill>
            <a:srgbClr val="915CFF"/>
          </a:solidFill>
          <a:ln>
            <a:solidFill>
              <a:srgbClr val="91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4251960"/>
            <a:ext cx="1920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5F8FF"/>
                </a:solidFill>
                <a:latin typeface="Aptos"/>
              </a:rPr>
              <a:t>PLAN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0" y="4617720"/>
            <a:ext cx="868680" cy="0"/>
          </a:xfrm>
          <a:prstGeom prst="line">
            <a:avLst/>
          </a:prstGeom>
          <a:ln w="3175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83680" y="4251960"/>
            <a:ext cx="1920240" cy="73152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251960"/>
            <a:ext cx="1920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5F8FF"/>
                </a:solidFill>
                <a:latin typeface="Aptos"/>
              </a:rPr>
              <a:t>ACTIONS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03920" y="4617720"/>
            <a:ext cx="868680" cy="0"/>
          </a:xfrm>
          <a:prstGeom prst="line">
            <a:avLst/>
          </a:prstGeom>
          <a:ln w="3175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418320" y="4251960"/>
            <a:ext cx="1920240" cy="731520"/>
          </a:xfrm>
          <a:prstGeom prst="roundRect">
            <a:avLst/>
          </a:prstGeom>
          <a:solidFill>
            <a:srgbClr val="FFAB40"/>
          </a:solidFill>
          <a:ln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4251960"/>
            <a:ext cx="1920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5F8FF"/>
                </a:solidFill>
                <a:latin typeface="Aptos"/>
              </a:rPr>
              <a:t>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589788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AAB9D2"/>
                </a:solidFill>
                <a:latin typeface="Aptos"/>
              </a:rPr>
              <a:t>Presented by: Your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What Is Planning?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78992"/>
            <a:ext cx="1051560" cy="50292"/>
          </a:xfrm>
          <a:prstGeom prst="rect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97864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AB9D2"/>
                </a:solidFill>
                <a:latin typeface="Aptos"/>
              </a:rPr>
              <a:t>Turning a goal into a sequence of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F5F8FF"/>
                </a:solidFill>
                <a:latin typeface="Aptos"/>
              </a:rPr>
              <a:t>Planning is the process of finding actions that transform an initial state into a desired goal state.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108960"/>
            <a:ext cx="2148840" cy="914400"/>
          </a:xfrm>
          <a:prstGeom prst="roundRect">
            <a:avLst/>
          </a:prstGeom>
          <a:solidFill>
            <a:srgbClr val="3D91FF"/>
          </a:solidFill>
          <a:ln>
            <a:solidFill>
              <a:srgbClr val="3D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2148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5F8FF"/>
                </a:solidFill>
                <a:latin typeface="Aptos"/>
              </a:rPr>
              <a:t>INITIAL
STATE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71800" y="3566160"/>
            <a:ext cx="914400" cy="0"/>
          </a:xfrm>
          <a:prstGeom prst="line">
            <a:avLst/>
          </a:prstGeom>
          <a:ln w="3175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931920" y="3108960"/>
            <a:ext cx="2148840" cy="914400"/>
          </a:xfrm>
          <a:prstGeom prst="roundRect">
            <a:avLst/>
          </a:prstGeom>
          <a:solidFill>
            <a:srgbClr val="915CFF"/>
          </a:solidFill>
          <a:ln>
            <a:solidFill>
              <a:srgbClr val="91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3108960"/>
            <a:ext cx="2148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5F8FF"/>
                </a:solidFill>
                <a:latin typeface="Aptos"/>
              </a:rPr>
              <a:t>ACTIONS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3566160"/>
            <a:ext cx="914400" cy="0"/>
          </a:xfrm>
          <a:prstGeom prst="line">
            <a:avLst/>
          </a:prstGeom>
          <a:ln w="3175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040880" y="3108960"/>
            <a:ext cx="2148840" cy="91440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3108960"/>
            <a:ext cx="2148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5F8FF"/>
                </a:solidFill>
                <a:latin typeface="Aptos"/>
              </a:rPr>
              <a:t>NEW
STATES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89720" y="3566160"/>
            <a:ext cx="914400" cy="0"/>
          </a:xfrm>
          <a:prstGeom prst="line">
            <a:avLst/>
          </a:prstGeom>
          <a:ln w="3175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49840" y="3108960"/>
            <a:ext cx="1280160" cy="914400"/>
          </a:xfrm>
          <a:prstGeom prst="roundRect">
            <a:avLst/>
          </a:prstGeom>
          <a:solidFill>
            <a:srgbClr val="FFAB40"/>
          </a:solidFill>
          <a:ln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40" y="3108960"/>
            <a:ext cx="1280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GOAL
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709160"/>
            <a:ext cx="7772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34D3DC"/>
                </a:solidFill>
                <a:latin typeface="Aptos"/>
              </a:rPr>
              <a:t>Example: Home → Bus Stop → College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AAB9D2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Components of a Planning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78992"/>
            <a:ext cx="1051560" cy="50292"/>
          </a:xfrm>
          <a:prstGeom prst="rect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2971800" cy="1828800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64008" cy="1828800"/>
          </a:xfrm>
          <a:prstGeom prst="rect">
            <a:avLst/>
          </a:prstGeom>
          <a:solidFill>
            <a:srgbClr val="3D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5F8FF"/>
                </a:solidFill>
                <a:latin typeface="Aptos"/>
              </a:rPr>
              <a:t>Initial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2560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9D2"/>
                </a:solidFill>
                <a:latin typeface="Aptos"/>
              </a:rPr>
              <a:t>Where the agent starts.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737360"/>
            <a:ext cx="2971800" cy="1828800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1737360"/>
            <a:ext cx="64008" cy="1828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901952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5F8FF"/>
                </a:solidFill>
                <a:latin typeface="Aptos"/>
              </a:rPr>
              <a:t>Goal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359152"/>
            <a:ext cx="2560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9D2"/>
                </a:solidFill>
                <a:latin typeface="Aptos"/>
              </a:rPr>
              <a:t>What the agent wants to achieve.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737360"/>
            <a:ext cx="2971800" cy="1828800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1737360"/>
            <a:ext cx="64008" cy="1828800"/>
          </a:xfrm>
          <a:prstGeom prst="rect">
            <a:avLst/>
          </a:prstGeom>
          <a:solidFill>
            <a:srgbClr val="91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901952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5F8FF"/>
                </a:solidFill>
                <a:latin typeface="Aptos"/>
              </a:rPr>
              <a:t>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359152"/>
            <a:ext cx="2560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9D2"/>
                </a:solidFill>
                <a:latin typeface="Aptos"/>
              </a:rPr>
              <a:t>Operations the agent can perform.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23160" y="4069080"/>
            <a:ext cx="2971800" cy="1828800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23160" y="4069080"/>
            <a:ext cx="64008" cy="18288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4233672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5F8FF"/>
                </a:solidFill>
                <a:latin typeface="Aptos"/>
              </a:rPr>
              <a:t>Preconditions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690872"/>
            <a:ext cx="2560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9D2"/>
                </a:solidFill>
                <a:latin typeface="Aptos"/>
              </a:rPr>
              <a:t>What must be true before an action.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4069080"/>
            <a:ext cx="2971800" cy="1828800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97880" y="4069080"/>
            <a:ext cx="64008" cy="1828800"/>
          </a:xfrm>
          <a:prstGeom prst="rect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4233672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5F8FF"/>
                </a:solidFill>
                <a:latin typeface="Aptos"/>
              </a:rPr>
              <a:t>Effects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690872"/>
            <a:ext cx="2560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9D2"/>
                </a:solidFill>
                <a:latin typeface="Aptos"/>
              </a:rPr>
              <a:t>What changes after the 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AAB9D2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Planning with State-Space 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78992"/>
            <a:ext cx="1051560" cy="50292"/>
          </a:xfrm>
          <a:prstGeom prst="rect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97864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AB9D2"/>
                </a:solidFill>
                <a:latin typeface="Aptos"/>
              </a:rPr>
              <a:t>Search through possible states to find a valid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554480" cy="685800"/>
          </a:xfrm>
          <a:prstGeom prst="roundRect">
            <a:avLst/>
          </a:prstGeom>
          <a:solidFill>
            <a:srgbClr val="3D91FF"/>
          </a:solidFill>
          <a:ln>
            <a:solidFill>
              <a:srgbClr val="3D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554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HOME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828800"/>
            <a:ext cx="1554480" cy="685800"/>
          </a:xfrm>
          <a:prstGeom prst="roundRect">
            <a:avLst/>
          </a:prstGeom>
          <a:solidFill>
            <a:srgbClr val="915CFF"/>
          </a:solidFill>
          <a:ln>
            <a:solidFill>
              <a:srgbClr val="91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1828800"/>
            <a:ext cx="1554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BUS
STOP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743200"/>
            <a:ext cx="1737360" cy="68580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2743200"/>
            <a:ext cx="1737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COLLEGE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3840480"/>
            <a:ext cx="1554480" cy="685800"/>
          </a:xfrm>
          <a:prstGeom prst="roundRect">
            <a:avLst/>
          </a:prstGeom>
          <a:solidFill>
            <a:srgbClr val="162541"/>
          </a:solidFill>
          <a:ln>
            <a:solidFill>
              <a:srgbClr val="16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3840480"/>
            <a:ext cx="1554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SHOP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4617720"/>
            <a:ext cx="1737360" cy="685800"/>
          </a:xfrm>
          <a:prstGeom prst="roundRect">
            <a:avLst/>
          </a:prstGeom>
          <a:solidFill>
            <a:srgbClr val="162541"/>
          </a:solidFill>
          <a:ln>
            <a:solidFill>
              <a:srgbClr val="16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4617720"/>
            <a:ext cx="1737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PARK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286000" y="2331720"/>
            <a:ext cx="685800" cy="685800"/>
          </a:xfrm>
          <a:prstGeom prst="line">
            <a:avLst/>
          </a:prstGeom>
          <a:ln w="3175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26280" y="2331720"/>
            <a:ext cx="960120" cy="685800"/>
          </a:xfrm>
          <a:prstGeom prst="line">
            <a:avLst/>
          </a:prstGeom>
          <a:ln w="3175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86000" y="3063240"/>
            <a:ext cx="685800" cy="1005840"/>
          </a:xfrm>
          <a:prstGeom prst="line">
            <a:avLst/>
          </a:prstGeom>
          <a:ln w="3175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26280" y="4160520"/>
            <a:ext cx="960120" cy="457200"/>
          </a:xfrm>
          <a:prstGeom prst="line">
            <a:avLst/>
          </a:prstGeom>
          <a:ln w="3175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680960" y="2240280"/>
            <a:ext cx="36576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5F8FF"/>
                </a:solidFill>
                <a:latin typeface="Aptos"/>
              </a:rPr>
              <a:t>The AI searches possible paths and selects one that reaches the goal.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886200"/>
            <a:ext cx="3657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AAB9D2"/>
                </a:solidFill>
                <a:latin typeface="Aptos"/>
              </a:rPr>
              <a:t>Goal: Find a suitable path from the initial state to the goal.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AAB9D2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Partial-Order Planning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78992"/>
            <a:ext cx="1051560" cy="50292"/>
          </a:xfrm>
          <a:prstGeom prst="rect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97864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AB9D2"/>
                </a:solidFill>
                <a:latin typeface="Aptos"/>
              </a:rPr>
              <a:t>Fix only the order that is actually necessary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34D3DC"/>
                </a:solidFill>
                <a:latin typeface="Aptos"/>
              </a:rPr>
              <a:t>Example: Making Tea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1920240" cy="685800"/>
          </a:xfrm>
          <a:prstGeom prst="roundRect">
            <a:avLst/>
          </a:prstGeom>
          <a:solidFill>
            <a:srgbClr val="3D91FF"/>
          </a:solidFill>
          <a:ln>
            <a:solidFill>
              <a:srgbClr val="3D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9202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Boil Water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886200"/>
            <a:ext cx="1920240" cy="685800"/>
          </a:xfrm>
          <a:prstGeom prst="roundRect">
            <a:avLst/>
          </a:prstGeom>
          <a:solidFill>
            <a:srgbClr val="915CFF"/>
          </a:solidFill>
          <a:ln>
            <a:solidFill>
              <a:srgbClr val="91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19202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Put Tea
in Cup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3886200"/>
            <a:ext cx="1920240" cy="685800"/>
          </a:xfrm>
          <a:prstGeom prst="roundRect">
            <a:avLst/>
          </a:prstGeom>
          <a:solidFill>
            <a:srgbClr val="FFAB40"/>
          </a:solidFill>
          <a:ln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3886200"/>
            <a:ext cx="19202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Add Sugar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743200"/>
            <a:ext cx="1920240" cy="68580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743200"/>
            <a:ext cx="19202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Add Hot Water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3200" y="3090672"/>
            <a:ext cx="3749040" cy="0"/>
          </a:xfrm>
          <a:prstGeom prst="line">
            <a:avLst/>
          </a:prstGeom>
          <a:ln w="3175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743200" y="3310128"/>
            <a:ext cx="3749040" cy="914400"/>
          </a:xfrm>
          <a:prstGeom prst="line">
            <a:avLst/>
          </a:prstGeom>
          <a:ln w="3175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77840" y="3310128"/>
            <a:ext cx="914400" cy="914400"/>
          </a:xfrm>
          <a:prstGeom prst="line">
            <a:avLst/>
          </a:prstGeom>
          <a:ln w="3175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823960" y="2560320"/>
            <a:ext cx="265176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Some actions have a required order.
Other actions can happen independently.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461772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D3DC"/>
                </a:solidFill>
                <a:latin typeface="Aptos"/>
              </a:rPr>
              <a:t>Benefit: flexibility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AAB9D2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Planning Graphs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78992"/>
            <a:ext cx="1051560" cy="50292"/>
          </a:xfrm>
          <a:prstGeom prst="rect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97864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AB9D2"/>
                </a:solidFill>
                <a:latin typeface="Aptos"/>
              </a:rPr>
              <a:t>A layered representation of states and possible 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1554480" cy="685800"/>
          </a:xfrm>
          <a:prstGeom prst="roundRect">
            <a:avLst/>
          </a:prstGeom>
          <a:solidFill>
            <a:srgbClr val="3D91FF"/>
          </a:solidFill>
          <a:ln>
            <a:solidFill>
              <a:srgbClr val="3D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554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468880"/>
            <a:ext cx="1554480" cy="685800"/>
          </a:xfrm>
          <a:prstGeom prst="roundRect">
            <a:avLst/>
          </a:prstGeom>
          <a:solidFill>
            <a:srgbClr val="915CFF"/>
          </a:solidFill>
          <a:ln>
            <a:solidFill>
              <a:srgbClr val="91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2468880"/>
            <a:ext cx="1554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468880"/>
            <a:ext cx="1554480" cy="68580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468880"/>
            <a:ext cx="1554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2468880"/>
            <a:ext cx="1554480" cy="685800"/>
          </a:xfrm>
          <a:prstGeom prst="roundRect">
            <a:avLst/>
          </a:prstGeom>
          <a:solidFill>
            <a:srgbClr val="915CFF"/>
          </a:solidFill>
          <a:ln>
            <a:solidFill>
              <a:srgbClr val="91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2468880"/>
            <a:ext cx="1554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2468880"/>
            <a:ext cx="1554480" cy="685800"/>
          </a:xfrm>
          <a:prstGeom prst="roundRect">
            <a:avLst/>
          </a:prstGeom>
          <a:solidFill>
            <a:srgbClr val="FFAB40"/>
          </a:solidFill>
          <a:ln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2468880"/>
            <a:ext cx="1554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GOAL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94560" y="2811780"/>
            <a:ext cx="548640" cy="0"/>
          </a:xfrm>
          <a:prstGeom prst="line">
            <a:avLst/>
          </a:prstGeom>
          <a:ln w="3175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297680" y="2811780"/>
            <a:ext cx="548640" cy="0"/>
          </a:xfrm>
          <a:prstGeom prst="line">
            <a:avLst/>
          </a:prstGeom>
          <a:ln w="3175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400800" y="2811780"/>
            <a:ext cx="548640" cy="0"/>
          </a:xfrm>
          <a:prstGeom prst="line">
            <a:avLst/>
          </a:prstGeom>
          <a:ln w="3175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503919" y="2811780"/>
            <a:ext cx="640081" cy="0"/>
          </a:xfrm>
          <a:prstGeom prst="line">
            <a:avLst/>
          </a:prstGeom>
          <a:ln w="3175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97280" y="4069080"/>
            <a:ext cx="2926080" cy="1508760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4069080"/>
            <a:ext cx="64008" cy="1508760"/>
          </a:xfrm>
          <a:prstGeom prst="rect">
            <a:avLst/>
          </a:prstGeom>
          <a:solidFill>
            <a:srgbClr val="3D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233672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Why use it?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690872"/>
            <a:ext cx="251460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9D2"/>
                </a:solidFill>
                <a:latin typeface="Aptos"/>
              </a:rPr>
              <a:t>Helps represent possible actions and states and can make planning search more efficient.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4069080"/>
            <a:ext cx="2926080" cy="1508760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17720" y="4069080"/>
            <a:ext cx="64008" cy="1508760"/>
          </a:xfrm>
          <a:prstGeom prst="rect">
            <a:avLst/>
          </a:prstGeom>
          <a:solidFill>
            <a:srgbClr val="91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4233672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What it shows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690872"/>
            <a:ext cx="251460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9D2"/>
                </a:solidFill>
                <a:latin typeface="Aptos"/>
              </a:rPr>
              <a:t>Which actions are possible and how they can lead toward a goal.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4069080"/>
            <a:ext cx="2926080" cy="1508760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4069080"/>
            <a:ext cx="64008" cy="1508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4233672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Key idea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690872"/>
            <a:ext cx="251460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9D2"/>
                </a:solidFill>
                <a:latin typeface="Aptos"/>
              </a:rPr>
              <a:t>Planning becomes a structured graph instead of an unorganized search.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AAB9D2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Planning with Propositional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78992"/>
            <a:ext cx="1051560" cy="50292"/>
          </a:xfrm>
          <a:prstGeom prst="rect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97864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AB9D2"/>
                </a:solidFill>
                <a:latin typeface="Aptos"/>
              </a:rPr>
              <a:t>Use facts and logical rules to reason about 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926080" cy="3474720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64008" cy="3474720"/>
          </a:xfrm>
          <a:prstGeom prst="rect">
            <a:avLst/>
          </a:prstGeom>
          <a:solidFill>
            <a:srgbClr val="3D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93392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5F8FF"/>
                </a:solidFill>
                <a:latin typeface="Aptos"/>
              </a:rPr>
              <a:t>FACTS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50592"/>
            <a:ext cx="2514600" cy="2697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AAB9D2"/>
                </a:solidFill>
                <a:latin typeface="Aptos"/>
              </a:rPr>
              <a:t>AtHome = TRUE
HasCar = TRUE
AtCollege = FALSE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828800"/>
            <a:ext cx="2926080" cy="3474720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828800"/>
            <a:ext cx="64008" cy="3474720"/>
          </a:xfrm>
          <a:prstGeom prst="rect">
            <a:avLst/>
          </a:prstGeom>
          <a:solidFill>
            <a:srgbClr val="91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993392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5F8FF"/>
                </a:solidFill>
                <a:latin typeface="Aptos"/>
              </a:rPr>
              <a:t>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450592"/>
            <a:ext cx="2514600" cy="2697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AAB9D2"/>
                </a:solidFill>
                <a:latin typeface="Aptos"/>
              </a:rPr>
              <a:t>IF
AtHome AND HasCar
THEN
DriveToCollege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828800"/>
            <a:ext cx="2926080" cy="3474720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828800"/>
            <a:ext cx="64008" cy="3474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993392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5F8FF"/>
                </a:solidFill>
                <a:latin typeface="Aptos"/>
              </a:rPr>
              <a:t>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450592"/>
            <a:ext cx="2514600" cy="2697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AAB9D2"/>
                </a:solidFill>
                <a:latin typeface="Aptos"/>
              </a:rPr>
              <a:t>AtCollege = TRUE
The action changes the state.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57600" y="3566160"/>
            <a:ext cx="822960" cy="0"/>
          </a:xfrm>
          <a:prstGeom prst="line">
            <a:avLst/>
          </a:prstGeom>
          <a:ln w="3175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52360" y="3566160"/>
            <a:ext cx="822960" cy="0"/>
          </a:xfrm>
          <a:prstGeom prst="line">
            <a:avLst/>
          </a:prstGeom>
          <a:ln w="3175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011680" y="5715000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34D3DC"/>
                </a:solidFill>
                <a:latin typeface="Aptos"/>
              </a:rPr>
              <a:t>Logic allows the planner to reason about what is possible.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AAB9D2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Analysis of Planning Approaches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78992"/>
            <a:ext cx="1051560" cy="50292"/>
          </a:xfrm>
          <a:prstGeom prst="rect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97864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AB9D2"/>
                </a:solidFill>
                <a:latin typeface="Aptos"/>
              </a:rPr>
              <a:t>Different methods work better for different problems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670048" cy="621792"/>
          </a:xfrm>
          <a:prstGeom prst="roundRect">
            <a:avLst/>
          </a:prstGeom>
          <a:solidFill>
            <a:srgbClr val="3D91FF"/>
          </a:solidFill>
          <a:ln>
            <a:solidFill>
              <a:srgbClr val="3D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267004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828800"/>
            <a:ext cx="3675887" cy="621792"/>
          </a:xfrm>
          <a:prstGeom prst="roundRect">
            <a:avLst/>
          </a:prstGeom>
          <a:solidFill>
            <a:srgbClr val="915CFF"/>
          </a:solidFill>
          <a:ln>
            <a:solidFill>
              <a:srgbClr val="91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828800"/>
            <a:ext cx="3675887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Strength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828800"/>
            <a:ext cx="4041648" cy="621792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1828800"/>
            <a:ext cx="404164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Limitation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578608"/>
            <a:ext cx="2670048" cy="603504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596896"/>
            <a:ext cx="2468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F8FF"/>
                </a:solidFill>
                <a:latin typeface="Aptos"/>
              </a:rPr>
              <a:t>State-Space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578608"/>
            <a:ext cx="3675887" cy="603504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2596896"/>
            <a:ext cx="34747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AB9D2"/>
                </a:solidFill>
                <a:latin typeface="Aptos"/>
              </a:rPr>
              <a:t>Simple and general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2578608"/>
            <a:ext cx="4041648" cy="603504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96328" y="2596896"/>
            <a:ext cx="38404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AB9D2"/>
                </a:solidFill>
                <a:latin typeface="Aptos"/>
              </a:rPr>
              <a:t>Can search many states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291839"/>
            <a:ext cx="2670048" cy="603504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310127"/>
            <a:ext cx="2468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F8FF"/>
                </a:solidFill>
                <a:latin typeface="Aptos"/>
              </a:rPr>
              <a:t>Partial-Order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3291839"/>
            <a:ext cx="3675887" cy="603504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7288" y="3310127"/>
            <a:ext cx="34747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AB9D2"/>
                </a:solidFill>
                <a:latin typeface="Aptos"/>
              </a:rPr>
              <a:t>Flexible ordering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3291839"/>
            <a:ext cx="4041648" cy="603504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96328" y="3310127"/>
            <a:ext cx="38404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AB9D2"/>
                </a:solidFill>
                <a:latin typeface="Aptos"/>
              </a:rPr>
              <a:t>More complex relationships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005072"/>
            <a:ext cx="2670048" cy="603504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4023359"/>
            <a:ext cx="2468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F8FF"/>
                </a:solidFill>
                <a:latin typeface="Aptos"/>
              </a:rPr>
              <a:t>Planning Graphs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4005072"/>
            <a:ext cx="3675887" cy="603504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47288" y="4023359"/>
            <a:ext cx="34747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AB9D2"/>
                </a:solidFill>
                <a:latin typeface="Aptos"/>
              </a:rPr>
              <a:t>Structured search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4005072"/>
            <a:ext cx="4041648" cy="603504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96328" y="4023359"/>
            <a:ext cx="38404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AB9D2"/>
                </a:solidFill>
                <a:latin typeface="Aptos"/>
              </a:rPr>
              <a:t>Graph can become large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18304"/>
            <a:ext cx="2670048" cy="603504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4736592"/>
            <a:ext cx="2468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F8FF"/>
                </a:solidFill>
                <a:latin typeface="Aptos"/>
              </a:rPr>
              <a:t>Logic-Based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37560" y="4718304"/>
            <a:ext cx="3675887" cy="603504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47288" y="4736592"/>
            <a:ext cx="34747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AB9D2"/>
                </a:solidFill>
                <a:latin typeface="Aptos"/>
              </a:rPr>
              <a:t>Strong reasoning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6600" y="4718304"/>
            <a:ext cx="4041648" cy="603504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96328" y="4736592"/>
            <a:ext cx="38404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AB9D2"/>
                </a:solidFill>
                <a:latin typeface="Aptos"/>
              </a:rPr>
              <a:t>Depends on good representation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5431536"/>
            <a:ext cx="2670048" cy="603504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5449823"/>
            <a:ext cx="2468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F8FF"/>
                </a:solidFill>
                <a:latin typeface="Aptos"/>
              </a:rPr>
              <a:t>Hierarchical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37560" y="5431536"/>
            <a:ext cx="3675887" cy="603504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47288" y="5449823"/>
            <a:ext cx="34747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AB9D2"/>
                </a:solidFill>
                <a:latin typeface="Aptos"/>
              </a:rPr>
              <a:t>Handles complex tasks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86600" y="5431536"/>
            <a:ext cx="4041648" cy="603504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96328" y="5449823"/>
            <a:ext cx="38404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AB9D2"/>
                </a:solidFill>
                <a:latin typeface="Aptos"/>
              </a:rPr>
              <a:t>Requires task hierarchy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AAB9D2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Hierarchical Planning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78992"/>
            <a:ext cx="1051560" cy="50292"/>
          </a:xfrm>
          <a:prstGeom prst="rect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97864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AB9D2"/>
                </a:solidFill>
                <a:latin typeface="Aptos"/>
              </a:rPr>
              <a:t>Break a complex goal into smaller tasks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600" y="1600200"/>
            <a:ext cx="2468880" cy="731520"/>
          </a:xfrm>
          <a:prstGeom prst="roundRect">
            <a:avLst/>
          </a:prstGeom>
          <a:solidFill>
            <a:srgbClr val="3D91FF"/>
          </a:solidFill>
          <a:ln>
            <a:solidFill>
              <a:srgbClr val="3D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00600" y="160020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5F8FF"/>
                </a:solidFill>
                <a:latin typeface="Aptos"/>
              </a:rPr>
              <a:t>DELIVER
PACKAGE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3154680"/>
            <a:ext cx="2011680" cy="685800"/>
          </a:xfrm>
          <a:prstGeom prst="roundRect">
            <a:avLst/>
          </a:prstGeom>
          <a:solidFill>
            <a:srgbClr val="915CFF"/>
          </a:solidFill>
          <a:ln>
            <a:solidFill>
              <a:srgbClr val="91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2011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PICK 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3154680"/>
            <a:ext cx="2011680" cy="685800"/>
          </a:xfrm>
          <a:prstGeom prst="roundRect">
            <a:avLst/>
          </a:prstGeom>
          <a:solidFill>
            <a:srgbClr val="915CFF"/>
          </a:solidFill>
          <a:ln>
            <a:solidFill>
              <a:srgbClr val="91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3154680"/>
            <a:ext cx="2011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PLAN ROUTE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154680"/>
            <a:ext cx="2011680" cy="685800"/>
          </a:xfrm>
          <a:prstGeom prst="roundRect">
            <a:avLst/>
          </a:prstGeom>
          <a:solidFill>
            <a:srgbClr val="915CFF"/>
          </a:solidFill>
          <a:ln>
            <a:solidFill>
              <a:srgbClr val="91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154680"/>
            <a:ext cx="2011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TRAVEL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3154680"/>
            <a:ext cx="2011680" cy="685800"/>
          </a:xfrm>
          <a:prstGeom prst="roundRect">
            <a:avLst/>
          </a:prstGeom>
          <a:solidFill>
            <a:srgbClr val="915CFF"/>
          </a:solidFill>
          <a:ln>
            <a:solidFill>
              <a:srgbClr val="91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3154680"/>
            <a:ext cx="2011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DELIVER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2011680" y="2331720"/>
            <a:ext cx="4023360" cy="822960"/>
          </a:xfrm>
          <a:prstGeom prst="line">
            <a:avLst/>
          </a:prstGeom>
          <a:ln w="3175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663440" y="2331720"/>
            <a:ext cx="1371600" cy="822960"/>
          </a:xfrm>
          <a:prstGeom prst="line">
            <a:avLst/>
          </a:prstGeom>
          <a:ln w="3175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35040" y="2331720"/>
            <a:ext cx="1280160" cy="822960"/>
          </a:xfrm>
          <a:prstGeom prst="line">
            <a:avLst/>
          </a:prstGeom>
          <a:ln w="3175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35040" y="2331720"/>
            <a:ext cx="3931920" cy="822960"/>
          </a:xfrm>
          <a:prstGeom prst="line">
            <a:avLst/>
          </a:prstGeom>
          <a:ln w="3175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828800" y="4617720"/>
            <a:ext cx="8412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34D3DC"/>
                </a:solidFill>
                <a:latin typeface="Aptos"/>
              </a:rPr>
              <a:t>Each high-level task can be decomposed into smaller actions.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303520"/>
            <a:ext cx="8046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AAB9D2"/>
                </a:solidFill>
                <a:latin typeface="Aptos"/>
              </a:rPr>
              <a:t>Big Goal → Subtasks → Specific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AAB9D2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Conditional &amp; Contingency Planning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78992"/>
            <a:ext cx="1051560" cy="50292"/>
          </a:xfrm>
          <a:prstGeom prst="rect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97864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AB9D2"/>
                </a:solidFill>
                <a:latin typeface="Aptos"/>
              </a:rPr>
              <a:t>Planning for different conditions and unexpected events</a:t>
            </a:r>
          </a:p>
        </p:txBody>
      </p:sp>
      <p:sp>
        <p:nvSpPr>
          <p:cNvPr id="5" name="Diamond 4"/>
          <p:cNvSpPr/>
          <p:nvPr/>
        </p:nvSpPr>
        <p:spPr>
          <a:xfrm>
            <a:off x="4663440" y="1828800"/>
            <a:ext cx="2468880" cy="1234440"/>
          </a:xfrm>
          <a:prstGeom prst="diamond">
            <a:avLst/>
          </a:prstGeom>
          <a:solidFill>
            <a:srgbClr val="915CFF"/>
          </a:solidFill>
          <a:ln>
            <a:solidFill>
              <a:srgbClr val="91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029968"/>
            <a:ext cx="2468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5F8FF"/>
                </a:solidFill>
                <a:latin typeface="Aptos"/>
              </a:rPr>
              <a:t>Is it
raining?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3931920"/>
            <a:ext cx="2377440" cy="822960"/>
          </a:xfrm>
          <a:prstGeom prst="roundRect">
            <a:avLst/>
          </a:prstGeom>
          <a:solidFill>
            <a:srgbClr val="3D91FF"/>
          </a:solidFill>
          <a:ln>
            <a:solidFill>
              <a:srgbClr val="3D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931920"/>
            <a:ext cx="2377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YES
Take Umbrella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3931920"/>
            <a:ext cx="2377440" cy="82296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3931920"/>
            <a:ext cx="2377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NO
Go Without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611880" y="3063240"/>
            <a:ext cx="1234440" cy="868680"/>
          </a:xfrm>
          <a:prstGeom prst="line">
            <a:avLst/>
          </a:prstGeom>
          <a:ln w="3175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49440" y="3063240"/>
            <a:ext cx="1463040" cy="868680"/>
          </a:xfrm>
          <a:prstGeom prst="line">
            <a:avLst/>
          </a:prstGeom>
          <a:ln w="3175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80160" y="507492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4D3DC"/>
                </a:solidFill>
                <a:latin typeface="Aptos"/>
              </a:rPr>
              <a:t>Conditional 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507492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4D3DC"/>
                </a:solidFill>
                <a:latin typeface="Aptos"/>
              </a:rPr>
              <a:t>Contingency 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806440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AAB9D2"/>
                </a:solidFill>
                <a:latin typeface="Aptos"/>
              </a:rPr>
              <a:t>Example contingency: If the bus is unavailable → take a taxi.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AAB9D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Multi-Agent Planning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78992"/>
            <a:ext cx="1051560" cy="50292"/>
          </a:xfrm>
          <a:prstGeom prst="rect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97864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AB9D2"/>
                </a:solidFill>
                <a:latin typeface="Aptos"/>
              </a:rPr>
              <a:t>Multiple intelligent agents coordinate to achieve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508760"/>
            <a:ext cx="2560320" cy="731520"/>
          </a:xfrm>
          <a:prstGeom prst="roundRect">
            <a:avLst/>
          </a:prstGeom>
          <a:solidFill>
            <a:srgbClr val="3D91FF"/>
          </a:solidFill>
          <a:ln>
            <a:solidFill>
              <a:srgbClr val="3D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60" y="1508760"/>
            <a:ext cx="2560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5F8FF"/>
                </a:solidFill>
                <a:latin typeface="Aptos"/>
              </a:rPr>
              <a:t>COORDINATOR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00400"/>
            <a:ext cx="2468880" cy="914400"/>
          </a:xfrm>
          <a:prstGeom prst="roundRect">
            <a:avLst/>
          </a:prstGeom>
          <a:solidFill>
            <a:srgbClr val="915CFF"/>
          </a:solidFill>
          <a:ln>
            <a:solidFill>
              <a:srgbClr val="91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ROBOT A
Pick Package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200400"/>
            <a:ext cx="2468880" cy="914400"/>
          </a:xfrm>
          <a:prstGeom prst="roundRect">
            <a:avLst/>
          </a:prstGeom>
          <a:solidFill>
            <a:srgbClr val="915CFF"/>
          </a:solidFill>
          <a:ln>
            <a:solidFill>
              <a:srgbClr val="91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20040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ROBOT B
Pick Package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200400"/>
            <a:ext cx="2468880" cy="914400"/>
          </a:xfrm>
          <a:prstGeom prst="roundRect">
            <a:avLst/>
          </a:prstGeom>
          <a:solidFill>
            <a:srgbClr val="915CFF"/>
          </a:solidFill>
          <a:ln>
            <a:solidFill>
              <a:srgbClr val="91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20040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ROBOT C
Deliver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148840" y="2240280"/>
            <a:ext cx="3840480" cy="960120"/>
          </a:xfrm>
          <a:prstGeom prst="line">
            <a:avLst/>
          </a:prstGeom>
          <a:ln w="3175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806440" y="2240280"/>
            <a:ext cx="182880" cy="960120"/>
          </a:xfrm>
          <a:prstGeom prst="line">
            <a:avLst/>
          </a:prstGeom>
          <a:ln w="3175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89320" y="2240280"/>
            <a:ext cx="3474720" cy="960120"/>
          </a:xfrm>
          <a:prstGeom prst="line">
            <a:avLst/>
          </a:prstGeom>
          <a:ln w="3175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05840" y="4892040"/>
            <a:ext cx="2926080" cy="1005840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4892040"/>
            <a:ext cx="64008" cy="1005840"/>
          </a:xfrm>
          <a:prstGeom prst="rect">
            <a:avLst/>
          </a:prstGeom>
          <a:solidFill>
            <a:srgbClr val="3D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5056631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Coordination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513831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9D2"/>
                </a:solidFill>
                <a:latin typeface="Aptos"/>
              </a:rPr>
              <a:t>Agents must avoid conflicting actions.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4892040"/>
            <a:ext cx="2926080" cy="1005840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17720" y="4892040"/>
            <a:ext cx="64008" cy="1005840"/>
          </a:xfrm>
          <a:prstGeom prst="rect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5056631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Communication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5513831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9D2"/>
                </a:solidFill>
                <a:latin typeface="Aptos"/>
              </a:rPr>
              <a:t>Agents may need to share information.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892040"/>
            <a:ext cx="2926080" cy="1005840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4892040"/>
            <a:ext cx="64008" cy="10058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5056631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Task Sharing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5513831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9D2"/>
                </a:solidFill>
                <a:latin typeface="Aptos"/>
              </a:rPr>
              <a:t>Different agents can handle different tasks.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AAB9D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Real-World Applications of AI Planning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78992"/>
            <a:ext cx="1051560" cy="50292"/>
          </a:xfrm>
          <a:prstGeom prst="rect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3154680" cy="1737360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92024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F5F8FF"/>
                </a:solidFill>
                <a:latin typeface="Aptos"/>
              </a:rPr>
              <a:t>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1938528"/>
            <a:ext cx="2057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AB9D2"/>
                </a:solidFill>
                <a:latin typeface="Aptos"/>
              </a:rPr>
              <a:t>Task and movement planning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737360"/>
            <a:ext cx="3154680" cy="1737360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92024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F5F8FF"/>
                </a:solidFill>
                <a:latin typeface="Aptos"/>
              </a:rPr>
              <a:t>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59" y="1938528"/>
            <a:ext cx="2057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Autonomous Vehicles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56032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AB9D2"/>
                </a:solidFill>
                <a:latin typeface="Aptos"/>
              </a:rPr>
              <a:t>Route and obstacle planning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737360"/>
            <a:ext cx="3154680" cy="1737360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92024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F5F8FF"/>
                </a:solidFill>
                <a:latin typeface="Aptos"/>
              </a:rPr>
              <a:t>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1938528"/>
            <a:ext cx="2057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Logistics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56032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AB9D2"/>
                </a:solidFill>
                <a:latin typeface="Aptos"/>
              </a:rPr>
              <a:t>Delivery and scheduling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77639"/>
            <a:ext cx="3154680" cy="1737360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416052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F5F8FF"/>
                </a:solidFill>
                <a:latin typeface="Aptos"/>
              </a:rPr>
              <a:t>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4178807"/>
            <a:ext cx="2057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Games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0060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AB9D2"/>
                </a:solidFill>
                <a:latin typeface="Aptos"/>
              </a:rPr>
              <a:t>Character decision making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3977639"/>
            <a:ext cx="3154680" cy="1737360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416052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F5F8FF"/>
                </a:solidFill>
                <a:latin typeface="Aptos"/>
              </a:rPr>
              <a:t>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59" y="4178807"/>
            <a:ext cx="2057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Space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80060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AB9D2"/>
                </a:solidFill>
                <a:latin typeface="Aptos"/>
              </a:rPr>
              <a:t>Mission and exploration 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3977639"/>
            <a:ext cx="3154680" cy="1737360"/>
          </a:xfrm>
          <a:prstGeom prst="roundRect">
            <a:avLst/>
          </a:prstGeom>
          <a:solidFill>
            <a:srgbClr val="111C32"/>
          </a:solidFill>
          <a:ln>
            <a:solidFill>
              <a:srgbClr val="23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416052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F5F8FF"/>
                </a:solidFill>
                <a:latin typeface="Aptos"/>
              </a:rPr>
              <a:t>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4178807"/>
            <a:ext cx="2057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Manufacturing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480060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AB9D2"/>
                </a:solidFill>
                <a:latin typeface="Aptos"/>
              </a:rPr>
              <a:t>Production and resource planning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AAB9D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Planning in Modern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78992"/>
            <a:ext cx="1051560" cy="50292"/>
          </a:xfrm>
          <a:prstGeom prst="rect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97864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AB9D2"/>
                </a:solidFill>
                <a:latin typeface="Aptos"/>
              </a:rPr>
              <a:t>Classical planning → AI agents that reason and 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783080"/>
            <a:ext cx="1325880" cy="621792"/>
          </a:xfrm>
          <a:prstGeom prst="roundRect">
            <a:avLst/>
          </a:prstGeom>
          <a:solidFill>
            <a:srgbClr val="3D91FF"/>
          </a:solidFill>
          <a:ln>
            <a:solidFill>
              <a:srgbClr val="3D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783080"/>
            <a:ext cx="13258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8FF"/>
                </a:solidFill>
                <a:latin typeface="Aptos"/>
              </a:rPr>
              <a:t>GOAL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37360" y="2093976"/>
            <a:ext cx="301752" cy="0"/>
          </a:xfrm>
          <a:prstGeom prst="line">
            <a:avLst/>
          </a:prstGeom>
          <a:ln w="2286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39112" y="1783080"/>
            <a:ext cx="1325880" cy="621792"/>
          </a:xfrm>
          <a:prstGeom prst="roundRect">
            <a:avLst/>
          </a:prstGeom>
          <a:solidFill>
            <a:srgbClr val="915CFF"/>
          </a:solidFill>
          <a:ln>
            <a:solidFill>
              <a:srgbClr val="91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39112" y="1783080"/>
            <a:ext cx="13258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8FF"/>
                </a:solidFill>
                <a:latin typeface="Aptos"/>
              </a:rPr>
              <a:t>REASON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64991" y="2093976"/>
            <a:ext cx="301753" cy="0"/>
          </a:xfrm>
          <a:prstGeom prst="line">
            <a:avLst/>
          </a:prstGeom>
          <a:ln w="2286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66744" y="1783080"/>
            <a:ext cx="1325880" cy="621792"/>
          </a:xfrm>
          <a:prstGeom prst="roundRect">
            <a:avLst/>
          </a:prstGeom>
          <a:solidFill>
            <a:srgbClr val="34D3DC"/>
          </a:solidFill>
          <a:ln>
            <a:solidFill>
              <a:srgbClr val="34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66744" y="1783080"/>
            <a:ext cx="13258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8FF"/>
                </a:solidFill>
                <a:latin typeface="Aptos"/>
              </a:rPr>
              <a:t>PLAN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92624" y="2093976"/>
            <a:ext cx="301752" cy="0"/>
          </a:xfrm>
          <a:prstGeom prst="line">
            <a:avLst/>
          </a:prstGeom>
          <a:ln w="2286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94376" y="1783080"/>
            <a:ext cx="1325880" cy="621792"/>
          </a:xfrm>
          <a:prstGeom prst="roundRect">
            <a:avLst/>
          </a:prstGeom>
          <a:solidFill>
            <a:srgbClr val="FFAB40"/>
          </a:solidFill>
          <a:ln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94376" y="1783080"/>
            <a:ext cx="13258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8FF"/>
                </a:solidFill>
                <a:latin typeface="Aptos"/>
              </a:rPr>
              <a:t>USE TOOLS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0256" y="2093976"/>
            <a:ext cx="301752" cy="0"/>
          </a:xfrm>
          <a:prstGeom prst="line">
            <a:avLst/>
          </a:prstGeom>
          <a:ln w="2286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922008" y="1783080"/>
            <a:ext cx="1325880" cy="621792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22008" y="1783080"/>
            <a:ext cx="13258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8FF"/>
                </a:solidFill>
                <a:latin typeface="Aptos"/>
              </a:rPr>
              <a:t>ACT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47888" y="2093976"/>
            <a:ext cx="301752" cy="0"/>
          </a:xfrm>
          <a:prstGeom prst="line">
            <a:avLst/>
          </a:prstGeom>
          <a:ln w="2286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49640" y="1783080"/>
            <a:ext cx="1325880" cy="621792"/>
          </a:xfrm>
          <a:prstGeom prst="roundRect">
            <a:avLst/>
          </a:prstGeom>
          <a:solidFill>
            <a:srgbClr val="FF5C5C"/>
          </a:solidFill>
          <a:ln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1783080"/>
            <a:ext cx="13258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8FF"/>
                </a:solidFill>
                <a:latin typeface="Aptos"/>
              </a:rPr>
              <a:t>OBSERVE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875519" y="2093976"/>
            <a:ext cx="301753" cy="0"/>
          </a:xfrm>
          <a:prstGeom prst="line">
            <a:avLst/>
          </a:prstGeom>
          <a:ln w="22860">
            <a:solidFill>
              <a:srgbClr val="3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177272" y="1783080"/>
            <a:ext cx="1325880" cy="621792"/>
          </a:xfrm>
          <a:prstGeom prst="roundRect">
            <a:avLst/>
          </a:prstGeom>
          <a:solidFill>
            <a:srgbClr val="915CFF"/>
          </a:solidFill>
          <a:ln>
            <a:solidFill>
              <a:srgbClr val="91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77272" y="1783080"/>
            <a:ext cx="13258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8FF"/>
                </a:solidFill>
                <a:latin typeface="Aptos"/>
              </a:rPr>
              <a:t>RE-PLAN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2971800"/>
            <a:ext cx="10149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AAB9D2"/>
                </a:solidFill>
                <a:latin typeface="Aptos"/>
              </a:rPr>
              <a:t>Traditional planning asks: “What sequence of actions reaches the goal?”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5F8FF"/>
                </a:solidFill>
                <a:latin typeface="Aptos"/>
              </a:rPr>
              <a:t>Modern AI agents extend this idea by planning, acting, observing results, and adapting.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28800" y="4434840"/>
            <a:ext cx="8503920" cy="1234440"/>
          </a:xfrm>
          <a:prstGeom prst="roundRect">
            <a:avLst/>
          </a:prstGeom>
          <a:solidFill>
            <a:srgbClr val="111C32"/>
          </a:solidFill>
          <a:ln>
            <a:solidFill>
              <a:srgbClr val="34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57400" y="4645152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34D3DC"/>
                </a:solidFill>
                <a:latin typeface="Aptos"/>
              </a:rPr>
              <a:t>“Planning gives AI the ability not just to know what it wants, but to decide how to achieve it.”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989320"/>
            <a:ext cx="2834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5F8FF"/>
                </a:solidFill>
                <a:latin typeface="Aptos"/>
              </a:rPr>
              <a:t>THANK YOU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AAB9D2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